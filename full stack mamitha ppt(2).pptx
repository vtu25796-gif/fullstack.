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9" r:id="rId12"/>
    <p:sldId id="267" r:id="rId13"/>
    <p:sldId id="268" r:id="rId14"/>
    <p:sldId id="272" r:id="rId15"/>
    <p:sldId id="271" r:id="rId16"/>
    <p:sldId id="273" r:id="rId17"/>
    <p:sldId id="270" r:id="rId18"/>
    <p:sldId id="265" r:id="rId19"/>
  </p:sldIdLst>
  <p:sldSz cx="18288000" cy="10287000"/>
  <p:notesSz cx="6858000" cy="9144000"/>
  <p:embeddedFontLst>
    <p:embeddedFont>
      <p:font typeface="Bookman Old Style" panose="02050604050505020204" pitchFamily="18" charset="0"/>
      <p:regular r:id="rId20"/>
      <p:bold r:id="rId21"/>
      <p:italic r:id="rId22"/>
      <p:boldItalic r:id="rId23"/>
    </p:embeddedFont>
    <p:embeddedFont>
      <p:font typeface="Cambria" panose="02040503050406030204" pitchFamily="18" charset="0"/>
      <p:regular r:id="rId24"/>
      <p:bold r:id="rId25"/>
      <p:italic r:id="rId26"/>
      <p:boldItalic r:id="rId27"/>
    </p:embeddedFont>
    <p:embeddedFont>
      <p:font typeface="Gotham" panose="020B0604020202020204" charset="0"/>
      <p:regular r:id="rId28"/>
    </p:embeddedFont>
    <p:embeddedFont>
      <p:font typeface="Gotham Bold Italics" panose="020B0604020202020204" charset="0"/>
      <p:boldItalic r:id="rId2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 showGuides="1">
      <p:cViewPr varScale="1">
        <p:scale>
          <a:sx n="59" d="100"/>
          <a:sy n="59" d="100"/>
        </p:scale>
        <p:origin x="34" y="12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font" Target="fonts/font9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font" Target="fonts/font8.fntdata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10"/>
          <p:cNvGrpSpPr/>
          <p:nvPr/>
        </p:nvGrpSpPr>
        <p:grpSpPr>
          <a:xfrm>
            <a:off x="11762088" y="-9632634"/>
            <a:ext cx="10994424" cy="10994424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-9965724" y="-1383136"/>
            <a:ext cx="10994424" cy="10994424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pic>
        <p:nvPicPr>
          <p:cNvPr id="23" name="Picture 2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9772" y="16492"/>
            <a:ext cx="4131816" cy="1784622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360002" y="1608482"/>
            <a:ext cx="159258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Vel Tech Rangarajan Dr. Sagunthala R&amp;D Institute of Science and Technology</a:t>
            </a:r>
          </a:p>
          <a:p>
            <a:pPr algn="ctr"/>
            <a:r>
              <a:rPr lang="en-US" sz="3600" b="1" dirty="0">
                <a:latin typeface="Cambria" panose="02040503050406030204" pitchFamily="18" charset="0"/>
                <a:ea typeface="Cambria" panose="02040503050406030204" pitchFamily="18" charset="0"/>
              </a:rPr>
              <a:t>School of Computing </a:t>
            </a:r>
          </a:p>
          <a:p>
            <a:pPr algn="ctr"/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Department of Computer Science and Engineering</a:t>
            </a:r>
            <a:endParaRPr lang="en-IN" sz="32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692835" y="3272357"/>
            <a:ext cx="1526013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rgbClr val="0033CC"/>
                </a:solidFill>
                <a:latin typeface="Bookman Old Style" panose="02050604050505020204" pitchFamily="18" charset="0"/>
              </a:rPr>
              <a:t>10211CS224 / FULL STACK APPLICATION DEVELOPMENT (JAVA)</a:t>
            </a:r>
            <a:endParaRPr lang="en-IN" sz="2800" b="1" dirty="0">
              <a:solidFill>
                <a:srgbClr val="0033CC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3727757" y="3897940"/>
            <a:ext cx="1119028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END SEMESTER PROJECT REVIEW</a:t>
            </a:r>
          </a:p>
          <a:p>
            <a:pPr algn="ctr"/>
            <a:endParaRPr lang="en-IN" sz="36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IN" sz="36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Date: 06-05-2026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1640" y="6057900"/>
            <a:ext cx="15784162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 EVENT  TICKET BOOKING 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3870" y="7800539"/>
            <a:ext cx="9067800" cy="2084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000" b="1" dirty="0">
                <a:latin typeface="Cambria" panose="02040503050406030204" pitchFamily="18" charset="0"/>
                <a:ea typeface="Cambria" panose="02040503050406030204" pitchFamily="18" charset="0"/>
              </a:rPr>
              <a:t>Presented By:</a:t>
            </a:r>
          </a:p>
          <a:p>
            <a:pPr>
              <a:lnSpc>
                <a:spcPct val="150000"/>
              </a:lnSpc>
            </a:pPr>
            <a:r>
              <a:rPr lang="en-US" sz="3000" dirty="0" err="1">
                <a:latin typeface="Cambria" panose="02040503050406030204" pitchFamily="18" charset="0"/>
                <a:ea typeface="Cambria" panose="02040503050406030204" pitchFamily="18" charset="0"/>
              </a:rPr>
              <a:t>V.Mamitha</a:t>
            </a:r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 – VTU</a:t>
            </a:r>
            <a:r>
              <a:rPr lang="en-IN" alt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25796</a:t>
            </a:r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en-US" sz="3000" dirty="0" err="1">
                <a:latin typeface="Cambria" panose="02040503050406030204" pitchFamily="18" charset="0"/>
                <a:ea typeface="Cambria" panose="02040503050406030204" pitchFamily="18" charset="0"/>
              </a:rPr>
              <a:t>Reg.No</a:t>
            </a:r>
            <a:r>
              <a:rPr lang="en-IN" alt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-23UECS0603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45035" y="7818586"/>
            <a:ext cx="6914603" cy="2084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000" b="1" dirty="0">
                <a:latin typeface="Cambria" panose="02040503050406030204" pitchFamily="18" charset="0"/>
                <a:ea typeface="Cambria" panose="02040503050406030204" pitchFamily="18" charset="0"/>
              </a:rPr>
              <a:t>Courses Handling Faculty:</a:t>
            </a:r>
          </a:p>
          <a:p>
            <a:pPr>
              <a:lnSpc>
                <a:spcPct val="150000"/>
              </a:lnSpc>
            </a:pPr>
            <a:r>
              <a:rPr lang="en-US" sz="3000" dirty="0" err="1">
                <a:latin typeface="Cambria" panose="02040503050406030204" pitchFamily="18" charset="0"/>
                <a:ea typeface="Cambria" panose="02040503050406030204" pitchFamily="18" charset="0"/>
              </a:rPr>
              <a:t>Dr.Hemamalini</a:t>
            </a:r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 S</a:t>
            </a:r>
          </a:p>
          <a:p>
            <a:pPr>
              <a:lnSpc>
                <a:spcPct val="150000"/>
              </a:lnSpc>
            </a:pPr>
            <a:r>
              <a:rPr lang="en-IN" alt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- </a:t>
            </a:r>
            <a:r>
              <a:rPr lang="en-IN" alt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Assistant Professor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09800" y="6972300"/>
            <a:ext cx="1474317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SDG: SDG No – </a:t>
            </a:r>
            <a:r>
              <a:rPr lang="en-IN" alt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9-Industry,Innovation and Infrastructure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9"/>
          <p:cNvGrpSpPr/>
          <p:nvPr/>
        </p:nvGrpSpPr>
        <p:grpSpPr>
          <a:xfrm>
            <a:off x="706082" y="1952203"/>
            <a:ext cx="992463" cy="992463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  <a:spcBef>
                  <a:spcPct val="0"/>
                </a:spcBef>
              </a:pPr>
              <a:r>
                <a:rPr lang="en-US" sz="2700" dirty="0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948235" y="4447339"/>
            <a:ext cx="508158" cy="543805"/>
            <a:chOff x="0" y="0"/>
            <a:chExt cx="812800" cy="869819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948235" y="3107362"/>
            <a:ext cx="508158" cy="543805"/>
            <a:chOff x="0" y="0"/>
            <a:chExt cx="812800" cy="869819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948235" y="5115753"/>
            <a:ext cx="508158" cy="543805"/>
            <a:chOff x="0" y="0"/>
            <a:chExt cx="812800" cy="869819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948235" y="3776486"/>
            <a:ext cx="508158" cy="543805"/>
            <a:chOff x="0" y="0"/>
            <a:chExt cx="812800" cy="869819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948235" y="6455730"/>
            <a:ext cx="508158" cy="543805"/>
            <a:chOff x="0" y="0"/>
            <a:chExt cx="812800" cy="869819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948235" y="5784877"/>
            <a:ext cx="508158" cy="543805"/>
            <a:chOff x="0" y="0"/>
            <a:chExt cx="812800" cy="869819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 dirty="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948235" y="7123361"/>
            <a:ext cx="508158" cy="543805"/>
            <a:chOff x="0" y="0"/>
            <a:chExt cx="812800" cy="869819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948235" y="7790991"/>
            <a:ext cx="508158" cy="543805"/>
            <a:chOff x="0" y="0"/>
            <a:chExt cx="812800" cy="869819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2" name="TextBox 1"/>
          <p:cNvSpPr txBox="1"/>
          <p:nvPr/>
        </p:nvSpPr>
        <p:spPr>
          <a:xfrm>
            <a:off x="152400" y="342900"/>
            <a:ext cx="15849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057400" y="1975485"/>
            <a:ext cx="15082520" cy="687260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lvl="1" indent="-457200" algn="just"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This project is an internal event ticket booking system for department-level events.</a:t>
            </a:r>
          </a:p>
          <a:p>
            <a:pPr lvl="1" indent="-457200" algn="just">
              <a:buFont typeface="Arial" panose="020B0604020202020204" pitchFamily="34" charset="0"/>
              <a:buChar char="•"/>
            </a:pPr>
            <a:endParaRPr lang="en-US" altLang="en-US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indent="-457200" algn="just"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It solves the problem of manual, paper-based event registration and overbooking.</a:t>
            </a:r>
          </a:p>
          <a:p>
            <a:pPr lvl="1" indent="-457200" algn="just">
              <a:buFont typeface="Arial" panose="020B0604020202020204" pitchFamily="34" charset="0"/>
              <a:buChar char="•"/>
            </a:pPr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indent="-457200" algn="just"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The system improves access to event information, booking, and seat availability.</a:t>
            </a:r>
          </a:p>
          <a:p>
            <a:pPr lvl="1" indent="-457200" algn="just">
              <a:buFont typeface="Arial" panose="020B0604020202020204" pitchFamily="34" charset="0"/>
              <a:buChar char="•"/>
            </a:pPr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indent="-457200" algn="just"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Users can browse events, filter options, and book tickets securely online.</a:t>
            </a:r>
          </a:p>
          <a:p>
            <a:pPr lvl="1" indent="-457200" algn="just">
              <a:buFont typeface="Arial" panose="020B0604020202020204" pitchFamily="34" charset="0"/>
              <a:buChar char="•"/>
            </a:pPr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indent="-457200" algn="just"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Admins can manage events, monitor bookings, and control seat limits.</a:t>
            </a:r>
          </a:p>
          <a:p>
            <a:pPr lvl="1" indent="-457200" algn="just">
              <a:buFont typeface="Arial" panose="020B0604020202020204" pitchFamily="34" charset="0"/>
              <a:buChar char="•"/>
            </a:pPr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indent="-457200" algn="just"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It includes authentication, role-based access, and booking confirmation flows.</a:t>
            </a:r>
          </a:p>
          <a:p>
            <a:pPr lvl="1" indent="-457200" algn="just">
              <a:buFont typeface="Arial" panose="020B0604020202020204" pitchFamily="34" charset="0"/>
              <a:buChar char="•"/>
            </a:pPr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indent="-457200" algn="just"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The application uses a React frontend, Node.js/Express backend, and MySQL database.</a:t>
            </a:r>
          </a:p>
          <a:p>
            <a:pPr lvl="1" indent="-457200" algn="just">
              <a:buFont typeface="Arial" panose="020B0604020202020204" pitchFamily="34" charset="0"/>
              <a:buChar char="•"/>
            </a:pPr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indent="-457200" algn="just"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The goal is to make event management efficient, transparent, and user-friendly.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6" name="Group 37"/>
          <p:cNvGrpSpPr/>
          <p:nvPr/>
        </p:nvGrpSpPr>
        <p:grpSpPr>
          <a:xfrm>
            <a:off x="14020800" y="-8142801"/>
            <a:ext cx="10994424" cy="10994424"/>
            <a:chOff x="0" y="0"/>
            <a:chExt cx="812800" cy="812800"/>
          </a:xfrm>
        </p:grpSpPr>
        <p:sp>
          <p:nvSpPr>
            <p:cNvPr id="7" name="Freeform 3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0" name="TextBox 39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Box 46"/>
          <p:cNvSpPr txBox="1"/>
          <p:nvPr/>
        </p:nvSpPr>
        <p:spPr>
          <a:xfrm>
            <a:off x="0" y="1216416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1" name="Group 11"/>
          <p:cNvGrpSpPr/>
          <p:nvPr/>
        </p:nvGrpSpPr>
        <p:grpSpPr>
          <a:xfrm>
            <a:off x="709357" y="2648112"/>
            <a:ext cx="992463" cy="992463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  <a:spcBef>
                  <a:spcPct val="0"/>
                </a:spcBef>
              </a:pPr>
              <a:r>
                <a:rPr lang="en-US" sz="2700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51509" y="4428296"/>
            <a:ext cx="508158" cy="543805"/>
            <a:chOff x="0" y="0"/>
            <a:chExt cx="812800" cy="86981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51509" y="3762533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8" name="TextBox 47"/>
          <p:cNvSpPr txBox="1"/>
          <p:nvPr/>
        </p:nvSpPr>
        <p:spPr>
          <a:xfrm>
            <a:off x="1905000" y="2095500"/>
            <a:ext cx="15082520" cy="677989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0">
              <a:buFontTx/>
              <a:buNone/>
            </a:pPr>
            <a:endParaRPr lang="en-US" sz="2800" dirty="0"/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Educational institutions rely on manual event ticket booking, causing inefficiencies like overbooking and disorganized registrations.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Students and faculty encounter long queues, unclear seat availability, and no real-time updates during events.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leads to frustration, wasted time, and missed participation opportunities for users.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Administrative staff face challenges with paper-based tracking, error-prone data management, and scalability issues.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Increased workload and reduced event success rates result from these outdated processes.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critical need exists for a digital, automated system to streamline event management and ensure fair access.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solution must provide transparent booking flows and enhanced administrative control.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develops a secure web application for seamless ticket booking, real-time updates, and comprehensive event administration.</a:t>
            </a:r>
          </a:p>
          <a:p>
            <a:pPr marL="457200" indent="-457200" algn="just">
              <a:buFontTx/>
              <a:buChar char="-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grpSp>
        <p:nvGrpSpPr>
          <p:cNvPr id="3" name="Group 37"/>
          <p:cNvGrpSpPr/>
          <p:nvPr/>
        </p:nvGrpSpPr>
        <p:grpSpPr>
          <a:xfrm>
            <a:off x="14020800" y="-8142801"/>
            <a:ext cx="10994424" cy="10994424"/>
            <a:chOff x="0" y="0"/>
            <a:chExt cx="812800" cy="812800"/>
          </a:xfrm>
        </p:grpSpPr>
        <p:sp>
          <p:nvSpPr>
            <p:cNvPr id="4" name="Freeform 3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5" name="TextBox 39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09357" y="3315742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  <a:spcBef>
                  <a:spcPct val="0"/>
                </a:spcBef>
              </a:pPr>
              <a:r>
                <a:rPr lang="en-US" sz="2700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51509" y="4428296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51509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50" name="TextBox 49"/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OBJECTIVE(S)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" name="Group 37"/>
          <p:cNvGrpSpPr/>
          <p:nvPr/>
        </p:nvGrpSpPr>
        <p:grpSpPr>
          <a:xfrm>
            <a:off x="14020800" y="-8142801"/>
            <a:ext cx="10994424" cy="10994424"/>
            <a:chOff x="0" y="0"/>
            <a:chExt cx="812800" cy="812800"/>
          </a:xfrm>
        </p:grpSpPr>
        <p:sp>
          <p:nvSpPr>
            <p:cNvPr id="4" name="Freeform 3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5" name="TextBox 39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2286000" y="2324100"/>
            <a:ext cx="15082520" cy="680783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0">
              <a:buFont typeface="Arial" panose="020B0604020202020204" pitchFamily="34" charset="0"/>
              <a:buNone/>
            </a:pPr>
            <a:endParaRPr lang="en-US" altLang="en-US" sz="2800" dirty="0"/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an automated ticket booking system to replace manual processes, enabling real-time seat availability, preventing overbooking, and providing a seamless user experience for students and faculty.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 secure authentication and authorization using JWT, along with user dashboards and admin panels, to manage events, bookings, and user data efficiently.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 scalability and reliability through a full-stack architecture (React frontend, Node.js backend, MySQL database) with Docker deployment, supporting high-demand events and comprehensive reporting.</a:t>
            </a:r>
          </a:p>
          <a:p>
            <a:pPr marL="457200" indent="-457200" algn="just">
              <a:buFontTx/>
              <a:buChar char="-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extBox 47"/>
          <p:cNvSpPr txBox="1"/>
          <p:nvPr/>
        </p:nvSpPr>
        <p:spPr>
          <a:xfrm>
            <a:off x="2057400" y="1821180"/>
            <a:ext cx="15082520" cy="837438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Description: A full-stack web application using React for the frontend, Node.js/Express for the backend, MySQL for the database, and JWT for secure authentication, enabling event browsing, ticket booking, and administration.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Event Management Module: Allows admins to create, update, and delete events with details like date, venue, seats, and pricing, providing a centralized dashboard for oversight.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Registration and Authentication: Implements JWT-based login/signup, supporting user roles (student/faculty/admin) with secure session management and password hashing.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Booking Flow: Users can browse events with filters, view real-time seat availability, and complete bookings with payment integration, generating receipts and confirmations.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Updates: Prevents overbooking through database locks and concurrent access controls, ensuring accurate seat counts and instant feedback.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Dashboard: Provides personalized views of bookings, receipts, and event history, with options to view or print confirmations.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grpSp>
        <p:nvGrpSpPr>
          <p:cNvPr id="13" name="Group 13"/>
          <p:cNvGrpSpPr/>
          <p:nvPr/>
        </p:nvGrpSpPr>
        <p:grpSpPr>
          <a:xfrm>
            <a:off x="709357" y="3983373"/>
            <a:ext cx="992463" cy="992463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  <a:spcBef>
                  <a:spcPct val="0"/>
                </a:spcBef>
              </a:pPr>
              <a:r>
                <a:rPr lang="en-US" sz="2700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51509" y="3315742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51509" y="2648112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6" name="TextBox 45"/>
          <p:cNvSpPr txBox="1"/>
          <p:nvPr/>
        </p:nvSpPr>
        <p:spPr>
          <a:xfrm>
            <a:off x="25879" y="400481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" name="Group 37"/>
          <p:cNvGrpSpPr/>
          <p:nvPr/>
        </p:nvGrpSpPr>
        <p:grpSpPr>
          <a:xfrm>
            <a:off x="14020800" y="-8142801"/>
            <a:ext cx="10994424" cy="10994424"/>
            <a:chOff x="0" y="0"/>
            <a:chExt cx="812800" cy="812800"/>
          </a:xfrm>
        </p:grpSpPr>
        <p:sp>
          <p:nvSpPr>
            <p:cNvPr id="3" name="Freeform 3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4" name="TextBox 39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709357" y="4655766"/>
            <a:ext cx="992463" cy="992463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  <a:spcBef>
                  <a:spcPct val="0"/>
                </a:spcBef>
              </a:pPr>
              <a:r>
                <a:rPr lang="en-US" sz="2700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51509" y="3320505"/>
            <a:ext cx="508158" cy="543805"/>
            <a:chOff x="0" y="0"/>
            <a:chExt cx="812800" cy="86981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51509" y="1987111"/>
            <a:ext cx="508158" cy="543805"/>
            <a:chOff x="0" y="0"/>
            <a:chExt cx="812800" cy="86981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51509" y="3988135"/>
            <a:ext cx="508158" cy="543805"/>
            <a:chOff x="0" y="0"/>
            <a:chExt cx="812800" cy="86981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51509" y="2652874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51509" y="6430348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51509" y="5764584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51509" y="7088453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51509" y="7756083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11762088" y="-9632634"/>
            <a:ext cx="10994424" cy="10994424"/>
            <a:chOff x="0" y="0"/>
            <a:chExt cx="812800" cy="81280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sp>
        <p:nvSpPr>
          <p:cNvPr id="42" name="TextBox 41"/>
          <p:cNvSpPr txBox="1"/>
          <p:nvPr/>
        </p:nvSpPr>
        <p:spPr>
          <a:xfrm>
            <a:off x="0" y="486639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 ARCHITECTURE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2209800" y="1638300"/>
            <a:ext cx="15082325" cy="39693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>
              <a:buFontTx/>
              <a:buNone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pic>
        <p:nvPicPr>
          <p:cNvPr id="2" name="Picture 1" descr="architecture diagram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6200" y="1638300"/>
            <a:ext cx="9344025" cy="655383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4"/>
          <p:cNvGrpSpPr/>
          <p:nvPr/>
        </p:nvGrpSpPr>
        <p:grpSpPr>
          <a:xfrm>
            <a:off x="735588" y="5318634"/>
            <a:ext cx="992463" cy="992463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  <a:spcBef>
                  <a:spcPct val="0"/>
                </a:spcBef>
              </a:pPr>
              <a:r>
                <a:rPr lang="en-US" sz="2700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77741" y="6425585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77741" y="7093216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7" name="TextBox 46"/>
          <p:cNvSpPr txBox="1"/>
          <p:nvPr/>
        </p:nvSpPr>
        <p:spPr>
          <a:xfrm>
            <a:off x="190500" y="315938"/>
            <a:ext cx="158115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WORKFLOW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2209800" y="1638300"/>
            <a:ext cx="15082325" cy="48310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/>
          </a:p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grpSp>
        <p:nvGrpSpPr>
          <p:cNvPr id="2" name="Group 37"/>
          <p:cNvGrpSpPr/>
          <p:nvPr/>
        </p:nvGrpSpPr>
        <p:grpSpPr>
          <a:xfrm>
            <a:off x="14020800" y="-8142801"/>
            <a:ext cx="10994424" cy="10994424"/>
            <a:chOff x="0" y="0"/>
            <a:chExt cx="812800" cy="812800"/>
          </a:xfrm>
        </p:grpSpPr>
        <p:sp>
          <p:nvSpPr>
            <p:cNvPr id="3" name="Freeform 3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4" name="TextBox 39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pic>
        <p:nvPicPr>
          <p:cNvPr id="5" name="Picture 4"/>
          <p:cNvPicPr/>
          <p:nvPr/>
        </p:nvPicPr>
        <p:blipFill>
          <a:blip r:embed="rId2"/>
          <a:stretch>
            <a:fillRect/>
          </a:stretch>
        </p:blipFill>
        <p:spPr>
          <a:xfrm>
            <a:off x="4342765" y="1287780"/>
            <a:ext cx="9115425" cy="88569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9"/>
          <p:cNvGrpSpPr/>
          <p:nvPr/>
        </p:nvGrpSpPr>
        <p:grpSpPr>
          <a:xfrm>
            <a:off x="735588" y="5976927"/>
            <a:ext cx="992463" cy="992463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  <a:spcBef>
                  <a:spcPct val="0"/>
                </a:spcBef>
              </a:pPr>
              <a:r>
                <a:rPr lang="en-US" sz="2700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977741" y="7093216"/>
            <a:ext cx="508158" cy="543805"/>
            <a:chOff x="0" y="0"/>
            <a:chExt cx="812800" cy="869819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7" name="TextBox 46"/>
          <p:cNvSpPr txBox="1"/>
          <p:nvPr/>
        </p:nvSpPr>
        <p:spPr>
          <a:xfrm>
            <a:off x="152400" y="342900"/>
            <a:ext cx="1676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USED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2209800" y="1638300"/>
            <a:ext cx="15082520" cy="83858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457200" indent="-457200" algn="just">
              <a:buFontTx/>
              <a:buChar char="-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Frontend: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I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HTML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I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CSS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I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JavaScript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I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React</a:t>
            </a:r>
          </a:p>
          <a:p>
            <a:pPr indent="0" algn="just">
              <a:buNone/>
            </a:pPr>
            <a:r>
              <a:rPr lang="en-I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  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Backend: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I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Node.js,Express.js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Tx/>
              <a:buChar char="-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Database: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I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MySQL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Tx/>
              <a:buChar char="-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Third-Party API: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I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SMTP for email services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Tx/>
              <a:buChar char="-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Tools: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I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VS Code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Tx/>
              <a:buChar char="-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Hardware/Software Requirements: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I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Windows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I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 Browser(Chrome)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I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Local Server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Tx/>
              <a:buChar char="-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Tx/>
              <a:buChar char="-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Tx/>
              <a:buChar char="-"/>
            </a:pPr>
            <a:endParaRPr lang="en-US" sz="2800" dirty="0"/>
          </a:p>
          <a:p>
            <a:pPr marL="457200" indent="-457200" algn="just">
              <a:buFontTx/>
              <a:buChar char="-"/>
            </a:pPr>
            <a:endParaRPr lang="en-US" sz="2800" dirty="0"/>
          </a:p>
          <a:p>
            <a:pPr marL="457200" indent="-457200" algn="just">
              <a:buFontTx/>
              <a:buChar char="-"/>
            </a:pPr>
            <a:endParaRPr lang="en-US" sz="2800" dirty="0"/>
          </a:p>
          <a:p>
            <a:pPr marL="457200" indent="-457200" algn="just">
              <a:buFontTx/>
              <a:buChar char="-"/>
            </a:pPr>
            <a:endParaRPr lang="en-US" sz="2800" dirty="0"/>
          </a:p>
          <a:p>
            <a:pPr marL="457200" indent="-457200" algn="just">
              <a:buFontTx/>
              <a:buChar char="-"/>
            </a:pPr>
            <a:endParaRPr lang="en-US" sz="2800" dirty="0"/>
          </a:p>
          <a:p>
            <a:pPr marL="457200" indent="-457200" algn="just">
              <a:buFontTx/>
              <a:buChar char="-"/>
            </a:pPr>
            <a:endParaRPr lang="en-US" sz="2800" dirty="0"/>
          </a:p>
          <a:p>
            <a:pPr marL="457200" indent="-457200" algn="just">
              <a:buFontTx/>
              <a:buChar char="-"/>
            </a:pPr>
            <a:endParaRPr lang="en-US" sz="2800" dirty="0"/>
          </a:p>
          <a:p>
            <a:pPr marL="457200" indent="-457200" algn="just">
              <a:buFontTx/>
              <a:buChar char="-"/>
            </a:pPr>
            <a:endParaRPr lang="en-US" sz="2800" dirty="0"/>
          </a:p>
          <a:p>
            <a:pPr marL="457200" indent="-457200" algn="just">
              <a:buFontTx/>
              <a:buChar char="-"/>
            </a:pPr>
            <a:endParaRPr lang="en-US" sz="2800" dirty="0"/>
          </a:p>
          <a:p>
            <a:pPr marL="457200" indent="-457200" algn="just">
              <a:buFontTx/>
              <a:buChar char="-"/>
            </a:pPr>
            <a:endParaRPr lang="en-US" sz="2800" dirty="0"/>
          </a:p>
          <a:p>
            <a:pPr marL="457200" indent="-457200" algn="just">
              <a:buFontTx/>
              <a:buChar char="-"/>
            </a:pPr>
            <a:endParaRPr lang="en-IN" sz="2800" dirty="0"/>
          </a:p>
        </p:txBody>
      </p:sp>
      <p:grpSp>
        <p:nvGrpSpPr>
          <p:cNvPr id="2" name="Group 37"/>
          <p:cNvGrpSpPr/>
          <p:nvPr/>
        </p:nvGrpSpPr>
        <p:grpSpPr>
          <a:xfrm>
            <a:off x="14401800" y="-2955537"/>
            <a:ext cx="10994424" cy="10994424"/>
            <a:chOff x="0" y="0"/>
            <a:chExt cx="812800" cy="812800"/>
          </a:xfrm>
        </p:grpSpPr>
        <p:sp>
          <p:nvSpPr>
            <p:cNvPr id="3" name="Freeform 3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4" name="TextBox 39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  <a:spcBef>
                  <a:spcPct val="0"/>
                </a:spcBef>
              </a:pPr>
              <a:r>
                <a:rPr lang="en-US" sz="2700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sp>
        <p:nvSpPr>
          <p:cNvPr id="43" name="TextBox 42"/>
          <p:cNvSpPr txBox="1"/>
          <p:nvPr/>
        </p:nvSpPr>
        <p:spPr>
          <a:xfrm>
            <a:off x="152400" y="342900"/>
            <a:ext cx="156972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DESCRIPTION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1981200" y="1485900"/>
            <a:ext cx="15082520" cy="84709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just"/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1: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Management</a:t>
            </a:r>
          </a:p>
          <a:p>
            <a:pPr algn="just"/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Handles user registration, login, and profile management with JWT-based secure authentication, supporting roles like student, faculty, and admin.</a:t>
            </a:r>
          </a:p>
          <a:p>
            <a:pPr algn="just"/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2: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Event Management</a:t>
            </a:r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Manages event creation, browsing, filtering, and details display, allowing users to view real-time seat availability and event information.</a:t>
            </a:r>
          </a:p>
          <a:p>
            <a:pPr algn="just"/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3: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Booking and Payment Processing</a:t>
            </a:r>
          </a:p>
          <a:p>
            <a:pPr algn="just"/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Implements the core booking flow, including ticket selection, payment handling, seat reservation, and overbooking prevention with transaction confirmations.</a:t>
            </a:r>
          </a:p>
          <a:p>
            <a:pPr algn="just"/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4: Notification and Communication</a:t>
            </a:r>
          </a:p>
          <a:p>
            <a:pPr algn="just"/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Integrates toast notifications for user feedback and optional email confirmations via SMTP for booking receipts and updates.</a:t>
            </a:r>
          </a:p>
          <a:p>
            <a:pPr algn="just"/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5: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 Panel and Reporting</a:t>
            </a:r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admin tools for event CRUD operations, user management, booking analytics, and reporting for operational insights and decision-making.</a:t>
            </a:r>
          </a:p>
          <a:p>
            <a:pPr algn="just"/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800" dirty="0"/>
          </a:p>
          <a:p>
            <a:endParaRPr lang="en-IN" sz="2800" dirty="0"/>
          </a:p>
          <a:p>
            <a:endParaRPr lang="en-IN" sz="2800" dirty="0"/>
          </a:p>
          <a:p>
            <a:endParaRPr lang="en-IN" sz="2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sp>
        <p:nvSpPr>
          <p:cNvPr id="43" name="TextBox 42"/>
          <p:cNvSpPr txBox="1"/>
          <p:nvPr/>
        </p:nvSpPr>
        <p:spPr>
          <a:xfrm>
            <a:off x="152400" y="342900"/>
            <a:ext cx="1598754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2209800" y="1638300"/>
            <a:ext cx="15082520" cy="720915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0">
              <a:buFontTx/>
              <a:buNone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r>
              <a:rPr lang="en-IN" altLang="en-US" sz="2800" dirty="0"/>
              <a:t>             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Figure:Login Page </a:t>
            </a:r>
            <a:endParaRPr lang="en-US" sz="20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  <a:p>
            <a:pPr marL="457200" indent="-457200">
              <a:buFontTx/>
              <a:buChar char="-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        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6840" y="1666875"/>
            <a:ext cx="9202420" cy="624649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8(A)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sp>
        <p:nvSpPr>
          <p:cNvPr id="43" name="TextBox 42"/>
          <p:cNvSpPr txBox="1"/>
          <p:nvPr/>
        </p:nvSpPr>
        <p:spPr>
          <a:xfrm>
            <a:off x="152400" y="342900"/>
            <a:ext cx="163068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2209800" y="1638300"/>
            <a:ext cx="15082325" cy="7847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>
              <a:buFontTx/>
              <a:buNone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  <a:p>
            <a:pPr marL="457200" indent="-457200">
              <a:buFontTx/>
              <a:buChar char="-"/>
            </a:pPr>
            <a:endParaRPr lang="en-IN" sz="2800" dirty="0"/>
          </a:p>
          <a:p>
            <a:pPr marL="457200" indent="-457200">
              <a:buFontTx/>
              <a:buChar char="-"/>
            </a:pPr>
            <a:endParaRPr lang="en-IN" sz="2800" dirty="0"/>
          </a:p>
          <a:p>
            <a:pPr marL="457200" indent="-457200">
              <a:buFontTx/>
              <a:buChar char="-"/>
            </a:pPr>
            <a:endParaRPr lang="en-IN" sz="2800" dirty="0"/>
          </a:p>
          <a:p>
            <a:pPr marL="457200" indent="-457200">
              <a:buFontTx/>
              <a:buChar char="-"/>
            </a:pPr>
            <a:endParaRPr lang="en-IN" sz="2800" dirty="0"/>
          </a:p>
          <a:p>
            <a:pPr marL="457200" indent="-457200">
              <a:buFontTx/>
              <a:buChar char="-"/>
            </a:pPr>
            <a:endParaRPr lang="en-IN" sz="2800" dirty="0"/>
          </a:p>
          <a:p>
            <a:pPr marL="457200" indent="-457200">
              <a:buFontTx/>
              <a:buChar char="-"/>
            </a:pPr>
            <a:endParaRPr lang="en-IN" sz="2800" dirty="0"/>
          </a:p>
          <a:p>
            <a:pPr marL="457200" indent="-457200">
              <a:buFontTx/>
              <a:buChar char="-"/>
            </a:pPr>
            <a:r>
              <a:rPr lang="en-IN" sz="2800" dirty="0"/>
              <a:t>       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Figure:Home Page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98520" y="1459230"/>
            <a:ext cx="11490960" cy="736854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8(B)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sp>
        <p:nvSpPr>
          <p:cNvPr id="43" name="TextBox 42"/>
          <p:cNvSpPr txBox="1"/>
          <p:nvPr/>
        </p:nvSpPr>
        <p:spPr>
          <a:xfrm>
            <a:off x="152400" y="342900"/>
            <a:ext cx="1630679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2264133" y="1600443"/>
            <a:ext cx="5257800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r>
              <a:rPr lang="en-US" sz="2800" dirty="0"/>
              <a:t>Admin Login Page</a:t>
            </a: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sp>
        <p:nvSpPr>
          <p:cNvPr id="2" name="TextBox 1"/>
          <p:cNvSpPr txBox="1"/>
          <p:nvPr/>
        </p:nvSpPr>
        <p:spPr>
          <a:xfrm>
            <a:off x="11441822" y="1697977"/>
            <a:ext cx="5257800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r>
              <a:rPr lang="en-US" sz="2800" dirty="0"/>
              <a:t>User Login Page</a:t>
            </a: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cxnSp>
        <p:nvCxnSpPr>
          <p:cNvPr id="5" name="Straight Connector 4"/>
          <p:cNvCxnSpPr/>
          <p:nvPr/>
        </p:nvCxnSpPr>
        <p:spPr>
          <a:xfrm>
            <a:off x="9448800" y="1697977"/>
            <a:ext cx="0" cy="74841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0" y="3365500"/>
            <a:ext cx="5135880" cy="442849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800" y="3162300"/>
            <a:ext cx="4968240" cy="452183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8(C)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sp>
        <p:nvSpPr>
          <p:cNvPr id="43" name="TextBox 42"/>
          <p:cNvSpPr txBox="1"/>
          <p:nvPr/>
        </p:nvSpPr>
        <p:spPr>
          <a:xfrm>
            <a:off x="609600" y="495300"/>
            <a:ext cx="15773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2209800" y="1638300"/>
            <a:ext cx="15082325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sp>
        <p:nvSpPr>
          <p:cNvPr id="2" name="TextBox 1"/>
          <p:cNvSpPr txBox="1"/>
          <p:nvPr/>
        </p:nvSpPr>
        <p:spPr>
          <a:xfrm>
            <a:off x="2209800" y="1638300"/>
            <a:ext cx="15082520" cy="71285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0">
              <a:buFontTx/>
              <a:buNone/>
            </a:pPr>
            <a:endParaRPr lang="en-US" sz="2800" dirty="0"/>
          </a:p>
          <a:p>
            <a:pPr indent="0">
              <a:buFontTx/>
              <a:buNone/>
            </a:pPr>
            <a:endParaRPr lang="en-US" sz="2800" dirty="0"/>
          </a:p>
          <a:p>
            <a:pPr indent="0">
              <a:buFontTx/>
              <a:buNone/>
            </a:pPr>
            <a:endParaRPr lang="en-US" sz="2800" dirty="0"/>
          </a:p>
          <a:p>
            <a:pPr indent="0">
              <a:buFontTx/>
              <a:buNone/>
            </a:pPr>
            <a:endParaRPr lang="en-US" sz="2800" dirty="0"/>
          </a:p>
          <a:p>
            <a:pPr indent="0">
              <a:buFontTx/>
              <a:buNone/>
            </a:pPr>
            <a:endParaRPr lang="en-US" sz="2800" dirty="0"/>
          </a:p>
          <a:p>
            <a:pPr indent="0">
              <a:buFontTx/>
              <a:buNone/>
            </a:pPr>
            <a:endParaRPr lang="en-US" sz="2800" dirty="0"/>
          </a:p>
          <a:p>
            <a:pPr indent="0">
              <a:buFontTx/>
              <a:buNone/>
            </a:pPr>
            <a:endParaRPr lang="en-US" sz="2800" dirty="0"/>
          </a:p>
          <a:p>
            <a:pPr indent="0">
              <a:buFontTx/>
              <a:buNone/>
            </a:pPr>
            <a:endParaRPr lang="en-US" sz="2800" dirty="0"/>
          </a:p>
          <a:p>
            <a:pPr indent="0">
              <a:buFontTx/>
              <a:buNone/>
            </a:pPr>
            <a:endParaRPr lang="en-US" sz="2800" dirty="0"/>
          </a:p>
          <a:p>
            <a:pPr indent="0">
              <a:buFontTx/>
              <a:buNone/>
            </a:pPr>
            <a:endParaRPr lang="en-US" sz="2800" dirty="0"/>
          </a:p>
          <a:p>
            <a:pPr indent="0">
              <a:buFontTx/>
              <a:buNone/>
            </a:pPr>
            <a:endParaRPr lang="en-US" sz="2800" dirty="0"/>
          </a:p>
          <a:p>
            <a:pPr indent="0">
              <a:buFontTx/>
              <a:buNone/>
            </a:pPr>
            <a:endParaRPr lang="en-US" sz="2800" dirty="0"/>
          </a:p>
          <a:p>
            <a:pPr indent="0">
              <a:buFontTx/>
              <a:buNone/>
            </a:pPr>
            <a:endParaRPr lang="en-US" sz="2800" dirty="0"/>
          </a:p>
          <a:p>
            <a:pPr indent="0">
              <a:buFontTx/>
              <a:buNone/>
            </a:pPr>
            <a:endParaRPr lang="en-US" sz="2800" dirty="0"/>
          </a:p>
          <a:p>
            <a:pPr indent="0">
              <a:buFontTx/>
              <a:buNone/>
            </a:pPr>
            <a:endParaRPr lang="en-US" sz="2800" dirty="0"/>
          </a:p>
          <a:p>
            <a:pPr indent="0">
              <a:buFontTx/>
              <a:buNone/>
            </a:pPr>
            <a:r>
              <a:rPr lang="en-US" sz="2800" dirty="0"/>
              <a:t> </a:t>
            </a:r>
            <a:r>
              <a:rPr lang="en-IN" altLang="en-US" sz="2800" dirty="0"/>
              <a:t>                        </a:t>
            </a:r>
            <a:r>
              <a:rPr lang="en-I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figure:Event Details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3390" y="2066290"/>
            <a:ext cx="10975340" cy="589851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8(C)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sp>
        <p:nvSpPr>
          <p:cNvPr id="43" name="TextBox 42"/>
          <p:cNvSpPr txBox="1"/>
          <p:nvPr/>
        </p:nvSpPr>
        <p:spPr>
          <a:xfrm>
            <a:off x="152400" y="342900"/>
            <a:ext cx="1598754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2209800" y="1638300"/>
            <a:ext cx="15082325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sp>
        <p:nvSpPr>
          <p:cNvPr id="2" name="TextBox 1"/>
          <p:cNvSpPr txBox="1"/>
          <p:nvPr/>
        </p:nvSpPr>
        <p:spPr>
          <a:xfrm>
            <a:off x="2209800" y="1638300"/>
            <a:ext cx="15082520" cy="756539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0">
              <a:buFontTx/>
              <a:buNone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r>
              <a:rPr lang="en-IN" altLang="en-US" sz="2800" dirty="0"/>
              <a:t>                    </a:t>
            </a:r>
            <a:r>
              <a:rPr lang="en-IN" altLang="en-US" sz="2000" dirty="0"/>
              <a:t>F</a:t>
            </a:r>
            <a:r>
              <a:rPr lang="en-I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igure:Payment Details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3400" y="1866900"/>
            <a:ext cx="8060690" cy="651383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8(C)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sp>
        <p:nvSpPr>
          <p:cNvPr id="43" name="TextBox 42"/>
          <p:cNvSpPr txBox="1"/>
          <p:nvPr/>
        </p:nvSpPr>
        <p:spPr>
          <a:xfrm>
            <a:off x="152400" y="342900"/>
            <a:ext cx="163068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2209800" y="1638300"/>
            <a:ext cx="15082325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sp>
        <p:nvSpPr>
          <p:cNvPr id="2" name="TextBox 1"/>
          <p:cNvSpPr txBox="1"/>
          <p:nvPr/>
        </p:nvSpPr>
        <p:spPr>
          <a:xfrm>
            <a:off x="2209800" y="1410335"/>
            <a:ext cx="15082520" cy="87115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0">
              <a:buFontTx/>
              <a:buNone/>
            </a:pPr>
            <a:endParaRPr lang="en-US" sz="2800" dirty="0"/>
          </a:p>
          <a:p>
            <a:pPr indent="0">
              <a:buFontTx/>
              <a:buNone/>
            </a:pPr>
            <a:endParaRPr lang="en-US" sz="2800" dirty="0"/>
          </a:p>
          <a:p>
            <a:pPr indent="0">
              <a:buFontTx/>
              <a:buNone/>
            </a:pPr>
            <a:endParaRPr lang="en-US" sz="2800" dirty="0"/>
          </a:p>
          <a:p>
            <a:pPr indent="0">
              <a:buFontTx/>
              <a:buNone/>
            </a:pPr>
            <a:endParaRPr lang="en-US" sz="2800" dirty="0"/>
          </a:p>
          <a:p>
            <a:pPr indent="0">
              <a:buFontTx/>
              <a:buNone/>
            </a:pPr>
            <a:endParaRPr lang="en-US" sz="2800" dirty="0"/>
          </a:p>
          <a:p>
            <a:pPr indent="0">
              <a:buFontTx/>
              <a:buNone/>
            </a:pPr>
            <a:endParaRPr lang="en-US" sz="2800" dirty="0"/>
          </a:p>
          <a:p>
            <a:pPr indent="0">
              <a:buFontTx/>
              <a:buNone/>
            </a:pPr>
            <a:endParaRPr lang="en-US" sz="2800" dirty="0"/>
          </a:p>
          <a:p>
            <a:pPr indent="0">
              <a:buFontTx/>
              <a:buNone/>
            </a:pPr>
            <a:endParaRPr lang="en-US" sz="2800" dirty="0"/>
          </a:p>
          <a:p>
            <a:pPr indent="0">
              <a:buFontTx/>
              <a:buNone/>
            </a:pPr>
            <a:endParaRPr lang="en-US" sz="2800" dirty="0"/>
          </a:p>
          <a:p>
            <a:pPr indent="0">
              <a:buFontTx/>
              <a:buNone/>
            </a:pPr>
            <a:endParaRPr lang="en-US" sz="2800" dirty="0"/>
          </a:p>
          <a:p>
            <a:pPr indent="0">
              <a:buFontTx/>
              <a:buNone/>
            </a:pPr>
            <a:endParaRPr lang="en-US" sz="2800" dirty="0"/>
          </a:p>
          <a:p>
            <a:pPr indent="0">
              <a:buFontTx/>
              <a:buNone/>
            </a:pPr>
            <a:endParaRPr lang="en-US" sz="2800" dirty="0"/>
          </a:p>
          <a:p>
            <a:pPr indent="0">
              <a:buFontTx/>
              <a:buNone/>
            </a:pPr>
            <a:endParaRPr lang="en-US" sz="2800" dirty="0"/>
          </a:p>
          <a:p>
            <a:pPr indent="0">
              <a:buFontTx/>
              <a:buNone/>
            </a:pPr>
            <a:endParaRPr lang="en-US" sz="2800" dirty="0"/>
          </a:p>
          <a:p>
            <a:pPr indent="0">
              <a:buFontTx/>
              <a:buNone/>
            </a:pPr>
            <a:endParaRPr lang="en-US" sz="2800" dirty="0"/>
          </a:p>
          <a:p>
            <a:pPr indent="0">
              <a:buFontTx/>
              <a:buNone/>
            </a:pPr>
            <a:endParaRPr lang="en-US" sz="2800" dirty="0"/>
          </a:p>
          <a:p>
            <a:pPr indent="0">
              <a:buFontTx/>
              <a:buNone/>
            </a:pPr>
            <a:r>
              <a:rPr lang="en-IN" altLang="en-US" sz="2800" dirty="0"/>
              <a:t>                     </a:t>
            </a:r>
          </a:p>
          <a:p>
            <a:pPr indent="0">
              <a:buFontTx/>
              <a:buNone/>
            </a:pPr>
            <a:r>
              <a:rPr lang="en-IN" altLang="en-US" sz="2800" dirty="0"/>
              <a:t>                             </a:t>
            </a:r>
            <a:r>
              <a:rPr lang="en-I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Figure:Payment Receipt</a:t>
            </a: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8200" y="1562100"/>
            <a:ext cx="6880860" cy="697547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8(C)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sp>
        <p:nvSpPr>
          <p:cNvPr id="43" name="TextBox 42"/>
          <p:cNvSpPr txBox="1"/>
          <p:nvPr/>
        </p:nvSpPr>
        <p:spPr>
          <a:xfrm>
            <a:off x="152400" y="342900"/>
            <a:ext cx="1598754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2209800" y="1638300"/>
            <a:ext cx="15082325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sp>
        <p:nvSpPr>
          <p:cNvPr id="2" name="TextBox 1"/>
          <p:cNvSpPr txBox="1"/>
          <p:nvPr/>
        </p:nvSpPr>
        <p:spPr>
          <a:xfrm>
            <a:off x="1918335" y="1638300"/>
            <a:ext cx="15373985" cy="55695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>
              <a:buFontTx/>
              <a:buNone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  <a:p>
            <a:pPr marL="457200" indent="-457200">
              <a:buFontTx/>
              <a:buChar char="-"/>
            </a:pPr>
            <a:endParaRPr lang="en-IN" sz="2800" dirty="0"/>
          </a:p>
          <a:p>
            <a:pPr marL="457200" indent="-457200">
              <a:buFontTx/>
              <a:buChar char="-"/>
            </a:pPr>
            <a:endParaRPr lang="en-IN" sz="2800" dirty="0"/>
          </a:p>
          <a:p>
            <a:pPr indent="0">
              <a:buFontTx/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Figure:Event  DB                                                                           Figure:User DB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7400" y="2242185"/>
            <a:ext cx="5627370" cy="443484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5715" y="2247900"/>
            <a:ext cx="7063740" cy="447421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735588" y="7321525"/>
            <a:ext cx="992463" cy="992463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  <a:spcBef>
                  <a:spcPct val="0"/>
                </a:spcBef>
              </a:pPr>
              <a:r>
                <a:rPr lang="en-US" sz="2700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77741" y="6653894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16786360" y="-353712"/>
            <a:ext cx="10994424" cy="10994424"/>
            <a:chOff x="0" y="0"/>
            <a:chExt cx="812800" cy="81280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619125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sp>
        <p:nvSpPr>
          <p:cNvPr id="2" name="TextBox 1"/>
          <p:cNvSpPr txBox="1"/>
          <p:nvPr/>
        </p:nvSpPr>
        <p:spPr>
          <a:xfrm>
            <a:off x="190500" y="290493"/>
            <a:ext cx="1612292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 &amp; LIMITATIONS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2231390" y="1773555"/>
            <a:ext cx="13411200" cy="752284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marL="457200" indent="-457200" algn="just">
              <a:buFont typeface="Wingdings" panose="05000000000000000000" charset="0"/>
              <a:buChar char="q"/>
            </a:pPr>
            <a:r>
              <a:rPr lang="en-I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Advantages: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IN" alt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IN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Easy Ticket booking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IN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Centralized system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IN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Admin control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IN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Real-time event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IN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display</a:t>
            </a:r>
          </a:p>
          <a:p>
            <a:pPr indent="0" algn="just">
              <a:buFont typeface="Arial" panose="020B0604020202020204" pitchFamily="34" charset="0"/>
              <a:buNone/>
            </a:pPr>
            <a:endParaRPr lang="en-IN" alt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Wingdings" panose="05000000000000000000" charset="0"/>
              <a:buChar char="q"/>
            </a:pPr>
            <a:r>
              <a:rPr lang="en-I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Limitations:</a:t>
            </a:r>
          </a:p>
          <a:p>
            <a:pPr marL="457200" indent="-457200" algn="just">
              <a:buFont typeface="Wingdings" panose="05000000000000000000" charset="0"/>
              <a:buChar char="q"/>
            </a:pPr>
            <a:endParaRPr lang="en-IN" alt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IN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No real payment gateway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IN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No database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IN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Single admin system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IN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No authentication security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TextBox 43"/>
          <p:cNvSpPr txBox="1"/>
          <p:nvPr/>
        </p:nvSpPr>
        <p:spPr>
          <a:xfrm>
            <a:off x="3200400" y="4486172"/>
            <a:ext cx="11159653" cy="13146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150"/>
              </a:lnSpc>
            </a:pPr>
            <a:r>
              <a:rPr lang="en-US" sz="11155" b="1" i="1" dirty="0">
                <a:solidFill>
                  <a:srgbClr val="191919"/>
                </a:solidFill>
                <a:latin typeface="Gotham Bold Italics" panose="02000000000000000000"/>
                <a:ea typeface="Gotham Bold Italics" panose="02000000000000000000"/>
                <a:cs typeface="Gotham Bold Italics" panose="02000000000000000000"/>
                <a:sym typeface="Gotham Bold Italics" panose="02000000000000000000"/>
              </a:rPr>
              <a:t>Thank you</a:t>
            </a:r>
          </a:p>
        </p:txBody>
      </p:sp>
      <p:grpSp>
        <p:nvGrpSpPr>
          <p:cNvPr id="44" name="Group 44"/>
          <p:cNvGrpSpPr/>
          <p:nvPr/>
        </p:nvGrpSpPr>
        <p:grpSpPr>
          <a:xfrm>
            <a:off x="16786360" y="-353712"/>
            <a:ext cx="10994424" cy="10994424"/>
            <a:chOff x="0" y="0"/>
            <a:chExt cx="812800" cy="81280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619125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1031</Words>
  <Application>Microsoft Office PowerPoint</Application>
  <PresentationFormat>Custom</PresentationFormat>
  <Paragraphs>499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7" baseType="lpstr">
      <vt:lpstr>Gotham</vt:lpstr>
      <vt:lpstr>Times New Roman</vt:lpstr>
      <vt:lpstr>Bookman Old Style</vt:lpstr>
      <vt:lpstr>Calibri</vt:lpstr>
      <vt:lpstr>Wingdings</vt:lpstr>
      <vt:lpstr>Cambria</vt:lpstr>
      <vt:lpstr>Gotham Bold Italics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White and Orange Simple Portfolio Presentation</dc:title>
  <dc:creator>KARTHIK</dc:creator>
  <cp:lastModifiedBy>tejaswani reddy</cp:lastModifiedBy>
  <cp:revision>20</cp:revision>
  <dcterms:created xsi:type="dcterms:W3CDTF">2006-08-16T00:00:00Z</dcterms:created>
  <dcterms:modified xsi:type="dcterms:W3CDTF">2026-05-06T05:54:32Z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1033-12.1.0.25862</vt:lpwstr>
  </property>
  <property fmtid="{D5CDD505-2E9C-101B-9397-08002B2CF9AE}" pid="3" name="ICV">
    <vt:lpwstr>850FBAFA07D84503BA56D24C0F641FB3_13</vt:lpwstr>
  </property>
</Properties>
</file>